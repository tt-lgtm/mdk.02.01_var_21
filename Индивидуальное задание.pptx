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6FB47-1FD3-2B54-480F-12678E40711C}" v="287" dt="2025-06-19T13:59:13.468"/>
    <p1510:client id="{29C14561-B5AE-6594-97C2-35AC76392C44}" v="2893" dt="2025-06-21T06:48:12.747"/>
    <p1510:client id="{DC2D7392-4D25-8443-092B-C62BD8BCD0E6}" v="189" dt="2025-06-20T21:43:36.5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>
        <p:scale>
          <a:sx n="84" d="100"/>
          <a:sy n="84" d="100"/>
        </p:scale>
        <p:origin x="-240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095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50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6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49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852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6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65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11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60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075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741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6819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238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170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892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563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810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3834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D009150-C089-5A81-BF7A-1E14E88A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399" y="400527"/>
            <a:ext cx="8945436" cy="753351"/>
          </a:xfrm>
        </p:spPr>
        <p:txBody>
          <a:bodyPr/>
          <a:lstStyle/>
          <a:p>
            <a:r>
              <a:rPr lang="ru-RU" sz="3600" dirty="0">
                <a:latin typeface="Times New Roman"/>
                <a:cs typeface="Times New Roman"/>
              </a:rPr>
              <a:t>Постановка задачи</a:t>
            </a:r>
            <a:endParaRPr lang="ru-RU" sz="3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A02D7F1-6B0D-53FD-FB7A-AC67521B7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366069"/>
            <a:ext cx="8946541" cy="38823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/>
                <a:cs typeface="Times New Roman"/>
              </a:rPr>
              <a:t>- Классическая игра, где игрок должен открывать клетки на поле, избегая мин. Добавить различные уровни сложности.</a:t>
            </a:r>
            <a:endParaRPr lang="ru-RU">
              <a:latin typeface="Times New Roman"/>
              <a:cs typeface="Times New Roman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ABEE4911-90C7-7926-99E3-A71105B9EB57}"/>
              </a:ext>
            </a:extLst>
          </p:cNvPr>
          <p:cNvSpPr txBox="1">
            <a:spLocks/>
          </p:cNvSpPr>
          <p:nvPr/>
        </p:nvSpPr>
        <p:spPr>
          <a:xfrm>
            <a:off x="1101224" y="1586324"/>
            <a:ext cx="8945436" cy="5550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b="1" dirty="0">
                <a:latin typeface="Times New Roman"/>
                <a:cs typeface="Times New Roman"/>
              </a:rPr>
              <a:t>Игра "Сапер"</a:t>
            </a:r>
          </a:p>
        </p:txBody>
      </p:sp>
    </p:spTree>
    <p:extLst>
      <p:ext uri="{BB962C8B-B14F-4D97-AF65-F5344CB8AC3E}">
        <p14:creationId xmlns:p14="http://schemas.microsoft.com/office/powerpoint/2010/main" val="311966526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626836D-38D1-733E-B237-41E2E46D5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83192"/>
            <a:ext cx="10021691" cy="46652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/>
                <a:cs typeface="Times New Roman"/>
              </a:rPr>
              <a:t>Входные данные программы:</a:t>
            </a:r>
            <a:endParaRPr lang="en-US" b="1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Выбор уровня сложности через кнопки (</a:t>
            </a:r>
            <a:r>
              <a:rPr lang="ru-RU" sz="1400" dirty="0" err="1">
                <a:latin typeface="Times New Roman"/>
                <a:cs typeface="Times New Roman"/>
              </a:rPr>
              <a:t>easybtn</a:t>
            </a:r>
            <a:r>
              <a:rPr lang="ru-RU" sz="1400" dirty="0">
                <a:latin typeface="Times New Roman"/>
                <a:cs typeface="Times New Roman"/>
              </a:rPr>
              <a:t>, </a:t>
            </a:r>
            <a:r>
              <a:rPr lang="ru-RU" sz="1400" dirty="0" err="1">
                <a:latin typeface="Times New Roman"/>
                <a:cs typeface="Times New Roman"/>
              </a:rPr>
              <a:t>mediumbtn</a:t>
            </a:r>
            <a:r>
              <a:rPr lang="ru-RU" sz="1400" dirty="0">
                <a:latin typeface="Times New Roman"/>
                <a:cs typeface="Times New Roman"/>
              </a:rPr>
              <a:t>, </a:t>
            </a:r>
            <a:r>
              <a:rPr lang="ru-RU" sz="1400" dirty="0" err="1">
                <a:latin typeface="Times New Roman"/>
                <a:cs typeface="Times New Roman"/>
              </a:rPr>
              <a:t>haedbtn</a:t>
            </a:r>
            <a:r>
              <a:rPr lang="ru-RU" sz="1400" dirty="0">
                <a:latin typeface="Times New Roman"/>
                <a:cs typeface="Times New Roman"/>
              </a:rPr>
              <a:t>) или меню (</a:t>
            </a:r>
            <a:r>
              <a:rPr lang="ru-RU" sz="1400" dirty="0" err="1">
                <a:latin typeface="Times New Roman"/>
                <a:cs typeface="Times New Roman"/>
              </a:rPr>
              <a:t>easy</a:t>
            </a:r>
            <a:r>
              <a:rPr lang="ru-RU" sz="1400" dirty="0">
                <a:latin typeface="Times New Roman"/>
                <a:cs typeface="Times New Roman"/>
              </a:rPr>
              <a:t>, </a:t>
            </a:r>
            <a:r>
              <a:rPr lang="ru-RU" sz="1400" dirty="0" err="1">
                <a:latin typeface="Times New Roman"/>
                <a:cs typeface="Times New Roman"/>
              </a:rPr>
              <a:t>medium</a:t>
            </a:r>
            <a:r>
              <a:rPr lang="ru-RU" sz="1400" dirty="0">
                <a:latin typeface="Times New Roman"/>
                <a:cs typeface="Times New Roman"/>
              </a:rPr>
              <a:t>, </a:t>
            </a:r>
            <a:r>
              <a:rPr lang="ru-RU" sz="1400" dirty="0" err="1">
                <a:latin typeface="Times New Roman"/>
                <a:cs typeface="Times New Roman"/>
              </a:rPr>
              <a:t>hard</a:t>
            </a:r>
            <a:r>
              <a:rPr lang="ru-RU" sz="1400" dirty="0">
                <a:latin typeface="Times New Roman"/>
                <a:cs typeface="Times New Roman"/>
              </a:rPr>
              <a:t>).</a:t>
            </a:r>
            <a:endParaRPr lang="en-US" b="1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Клик мышью: левой для открытия клеток, правой для установки/удаления флагов.</a:t>
            </a:r>
            <a:endParaRPr lang="en-US" b="1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События меню: "Новая игра" (</a:t>
            </a:r>
            <a:r>
              <a:rPr lang="ru-RU" sz="1400" dirty="0" err="1">
                <a:latin typeface="Times New Roman"/>
                <a:cs typeface="Times New Roman"/>
              </a:rPr>
              <a:t>newgame</a:t>
            </a:r>
            <a:r>
              <a:rPr lang="ru-RU" sz="1400" dirty="0">
                <a:latin typeface="Times New Roman"/>
                <a:cs typeface="Times New Roman"/>
              </a:rPr>
              <a:t>), "Вернуться в главное меню (</a:t>
            </a:r>
            <a:r>
              <a:rPr lang="ru-RU" sz="1400" dirty="0" err="1">
                <a:latin typeface="Times New Roman"/>
                <a:cs typeface="Times New Roman"/>
              </a:rPr>
              <a:t>mainmenu</a:t>
            </a:r>
            <a:r>
              <a:rPr lang="ru-RU" sz="1400" dirty="0">
                <a:latin typeface="Times New Roman"/>
                <a:cs typeface="Times New Roman"/>
              </a:rPr>
              <a:t>), "Руководство" (</a:t>
            </a:r>
            <a:r>
              <a:rPr lang="ru-RU" sz="1400" dirty="0" err="1">
                <a:latin typeface="Times New Roman"/>
                <a:cs typeface="Times New Roman"/>
              </a:rPr>
              <a:t>helpbtn</a:t>
            </a:r>
            <a:r>
              <a:rPr lang="ru-RU" sz="1400" dirty="0">
                <a:latin typeface="Times New Roman"/>
                <a:cs typeface="Times New Roman"/>
              </a:rPr>
              <a:t>, </a:t>
            </a:r>
            <a:r>
              <a:rPr lang="ru-RU" sz="1400" dirty="0" err="1">
                <a:latin typeface="Times New Roman"/>
                <a:cs typeface="Times New Roman"/>
              </a:rPr>
              <a:t>help</a:t>
            </a:r>
            <a:r>
              <a:rPr lang="ru-RU" sz="1400" dirty="0">
                <a:latin typeface="Times New Roman"/>
                <a:cs typeface="Times New Roman"/>
              </a:rPr>
              <a:t>), "Выход" (</a:t>
            </a:r>
            <a:r>
              <a:rPr lang="ru-RU" sz="1400" dirty="0" err="1">
                <a:latin typeface="Times New Roman"/>
                <a:cs typeface="Times New Roman"/>
              </a:rPr>
              <a:t>exit</a:t>
            </a:r>
            <a:r>
              <a:rPr lang="ru-RU" sz="1400" dirty="0">
                <a:latin typeface="Times New Roman"/>
                <a:cs typeface="Times New Roman"/>
              </a:rPr>
              <a:t>).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Время отслеживаемое таймером (</a:t>
            </a:r>
            <a:r>
              <a:rPr lang="ru-RU" sz="1400" dirty="0" err="1">
                <a:latin typeface="Times New Roman"/>
                <a:cs typeface="Times New Roman"/>
              </a:rPr>
              <a:t>timer_Tick</a:t>
            </a:r>
            <a:r>
              <a:rPr lang="ru-RU" sz="1400" dirty="0">
                <a:latin typeface="Times New Roman"/>
                <a:cs typeface="Times New Roman"/>
              </a:rPr>
              <a:t>).</a:t>
            </a:r>
            <a:endParaRPr lang="ru-RU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/>
                <a:cs typeface="Times New Roman"/>
              </a:rPr>
              <a:t>Выходные данные программы: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Отображение игрового поля с открытыми клетками, числами или минами.</a:t>
            </a:r>
            <a:endParaRPr lang="ru-RU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Обновление счётчика флагов (</a:t>
            </a:r>
            <a:r>
              <a:rPr lang="ru-RU" sz="1400" dirty="0" err="1">
                <a:latin typeface="Times New Roman"/>
                <a:cs typeface="Times New Roman"/>
              </a:rPr>
              <a:t>flagslabel</a:t>
            </a:r>
            <a:r>
              <a:rPr lang="ru-RU" sz="1400" dirty="0">
                <a:latin typeface="Times New Roman"/>
                <a:cs typeface="Times New Roman"/>
              </a:rPr>
              <a:t>) и таймера (</a:t>
            </a:r>
            <a:r>
              <a:rPr lang="ru-RU" sz="1400" dirty="0" err="1">
                <a:latin typeface="Times New Roman"/>
                <a:cs typeface="Times New Roman"/>
              </a:rPr>
              <a:t>timelabel</a:t>
            </a:r>
            <a:r>
              <a:rPr lang="ru-RU" sz="1400" dirty="0">
                <a:latin typeface="Times New Roman"/>
                <a:cs typeface="Times New Roman"/>
              </a:rPr>
              <a:t>).</a:t>
            </a:r>
            <a:endParaRPr lang="ru-RU">
              <a:latin typeface="Century Gothic" panose="020B0502020202020204"/>
              <a:cs typeface="Times New Roman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Сообщение о результате (Победе или Проигрыше) через </a:t>
            </a:r>
            <a:r>
              <a:rPr lang="ru-RU" sz="1400" dirty="0" err="1">
                <a:latin typeface="Times New Roman"/>
                <a:cs typeface="Times New Roman"/>
              </a:rPr>
              <a:t>MessageBox</a:t>
            </a:r>
            <a:r>
              <a:rPr lang="ru-RU" sz="1400" dirty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Завершение программы при выборе "Выход" через Application::</a:t>
            </a:r>
            <a:r>
              <a:rPr lang="ru-RU" sz="1400" dirty="0" err="1">
                <a:latin typeface="Times New Roman"/>
                <a:cs typeface="Times New Roman"/>
              </a:rPr>
              <a:t>Exit</a:t>
            </a:r>
            <a:r>
              <a:rPr lang="ru-RU" sz="1400" dirty="0">
                <a:latin typeface="Times New Roman"/>
                <a:cs typeface="Times New Roman"/>
              </a:rPr>
              <a:t>().</a:t>
            </a:r>
          </a:p>
          <a:p>
            <a:pPr indent="0">
              <a:lnSpc>
                <a:spcPct val="160000"/>
              </a:lnSpc>
              <a:spcBef>
                <a:spcPts val="0"/>
              </a:spcBef>
              <a:buClr>
                <a:srgbClr val="8AD0D6"/>
              </a:buClr>
              <a:buFont typeface="Calibri"/>
              <a:buChar char="-"/>
            </a:pPr>
            <a:endParaRPr lang="ru-RU" sz="2400" dirty="0">
              <a:latin typeface="Times New Roman"/>
              <a:cs typeface="Times New Roman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19C3C69B-FD8E-8FF0-C85A-ADB62B15D57E}"/>
              </a:ext>
            </a:extLst>
          </p:cNvPr>
          <p:cNvSpPr txBox="1">
            <a:spLocks/>
          </p:cNvSpPr>
          <p:nvPr/>
        </p:nvSpPr>
        <p:spPr>
          <a:xfrm>
            <a:off x="1105399" y="400527"/>
            <a:ext cx="8945436" cy="7533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>
                <a:latin typeface="Times New Roman"/>
                <a:cs typeface="Times New Roman"/>
              </a:rPr>
              <a:t>Входные и выходные данные</a:t>
            </a:r>
            <a:endParaRPr lang="ru-RU" sz="3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158275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="" xmlns:a16="http://schemas.microsoft.com/office/drawing/2014/main" id="{812054F1-1DA0-4F70-E212-F8004BC93FFF}"/>
              </a:ext>
            </a:extLst>
          </p:cNvPr>
          <p:cNvSpPr txBox="1">
            <a:spLocks/>
          </p:cNvSpPr>
          <p:nvPr/>
        </p:nvSpPr>
        <p:spPr>
          <a:xfrm>
            <a:off x="1105399" y="400527"/>
            <a:ext cx="8945436" cy="7533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>
                <a:latin typeface="Times New Roman"/>
                <a:cs typeface="Times New Roman"/>
              </a:rPr>
              <a:t>Математическая модель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7A123891-3986-181F-6A67-44E1497AD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83192"/>
            <a:ext cx="10021691" cy="466520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400" dirty="0">
                <a:latin typeface="Times New Roman"/>
                <a:cs typeface="Times New Roman"/>
              </a:rPr>
              <a:t>Игровое поле представлено в виде двумерного массива размером </a:t>
            </a:r>
            <a:r>
              <a:rPr lang="ru-RU" sz="1400" err="1">
                <a:latin typeface="Times New Roman"/>
                <a:cs typeface="Times New Roman"/>
              </a:rPr>
              <a:t>size</a:t>
            </a:r>
            <a:r>
              <a:rPr lang="ru-RU" sz="1400" dirty="0">
                <a:latin typeface="Times New Roman"/>
                <a:cs typeface="Times New Roman"/>
              </a:rPr>
              <a:t> x </a:t>
            </a:r>
            <a:r>
              <a:rPr lang="ru-RU" sz="1400" err="1">
                <a:latin typeface="Times New Roman"/>
                <a:cs typeface="Times New Roman"/>
              </a:rPr>
              <a:t>size</a:t>
            </a:r>
            <a:r>
              <a:rPr lang="ru-RU" sz="1400" dirty="0">
                <a:latin typeface="Times New Roman"/>
                <a:cs typeface="Times New Roman"/>
              </a:rPr>
              <a:t>.</a:t>
            </a:r>
            <a:endParaRPr lang="ru-RU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/>
                <a:cs typeface="Times New Roman"/>
              </a:rPr>
              <a:t>Компоненты:</a:t>
            </a:r>
            <a:endParaRPr lang="ru-RU" sz="14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sz="1400" dirty="0" err="1">
                <a:latin typeface="Times New Roman"/>
                <a:cs typeface="Times New Roman"/>
              </a:rPr>
              <a:t>mine</a:t>
            </a:r>
            <a:r>
              <a:rPr lang="ru-RU" sz="1400" dirty="0">
                <a:latin typeface="Times New Roman"/>
                <a:cs typeface="Times New Roman"/>
              </a:rPr>
              <a:t>[</a:t>
            </a:r>
            <a:r>
              <a:rPr lang="ru-RU" sz="1400" dirty="0" err="1">
                <a:latin typeface="Times New Roman"/>
                <a:cs typeface="Times New Roman"/>
              </a:rPr>
              <a:t>i,j</a:t>
            </a:r>
            <a:r>
              <a:rPr lang="ru-RU" sz="1400" dirty="0">
                <a:latin typeface="Times New Roman"/>
                <a:cs typeface="Times New Roman"/>
              </a:rPr>
              <a:t>] (булева матрица): указывает наличие мины (</a:t>
            </a:r>
            <a:r>
              <a:rPr lang="ru-RU" sz="1400" dirty="0" err="1">
                <a:latin typeface="Times New Roman"/>
                <a:cs typeface="Times New Roman"/>
              </a:rPr>
              <a:t>true</a:t>
            </a:r>
            <a:r>
              <a:rPr lang="ru-RU" sz="1400" dirty="0">
                <a:latin typeface="Times New Roman"/>
                <a:cs typeface="Times New Roman"/>
              </a:rPr>
              <a:t>/</a:t>
            </a:r>
            <a:r>
              <a:rPr lang="ru-RU" sz="1400" dirty="0" err="1">
                <a:latin typeface="Times New Roman"/>
                <a:cs typeface="Times New Roman"/>
              </a:rPr>
              <a:t>false</a:t>
            </a:r>
            <a:r>
              <a:rPr lang="ru-RU" sz="1400" dirty="0">
                <a:latin typeface="Times New Roman"/>
                <a:cs typeface="Times New Roman"/>
              </a:rPr>
              <a:t>).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1400" dirty="0" err="1">
                <a:latin typeface="Times New Roman"/>
                <a:cs typeface="Times New Roman"/>
              </a:rPr>
              <a:t>nums</a:t>
            </a:r>
            <a:r>
              <a:rPr lang="ru-RU" sz="1400" dirty="0">
                <a:latin typeface="Times New Roman"/>
                <a:cs typeface="Times New Roman"/>
              </a:rPr>
              <a:t>[</a:t>
            </a:r>
            <a:r>
              <a:rPr lang="ru-RU" sz="1400" dirty="0" err="1">
                <a:latin typeface="Times New Roman"/>
                <a:cs typeface="Times New Roman"/>
              </a:rPr>
              <a:t>i,j</a:t>
            </a:r>
            <a:r>
              <a:rPr lang="ru-RU" sz="1400" dirty="0">
                <a:latin typeface="Times New Roman"/>
                <a:cs typeface="Times New Roman"/>
              </a:rPr>
              <a:t>] (целочисленная матрица): количество мин вокруг клетки.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1400" dirty="0" err="1">
                <a:latin typeface="Times New Roman"/>
                <a:cs typeface="Times New Roman"/>
              </a:rPr>
              <a:t>opened</a:t>
            </a:r>
            <a:r>
              <a:rPr lang="ru-RU" sz="1400" dirty="0">
                <a:latin typeface="Times New Roman"/>
                <a:cs typeface="Times New Roman"/>
              </a:rPr>
              <a:t>[</a:t>
            </a:r>
            <a:r>
              <a:rPr lang="ru-RU" sz="1400" dirty="0" err="1">
                <a:latin typeface="Times New Roman"/>
                <a:cs typeface="Times New Roman"/>
              </a:rPr>
              <a:t>i,j</a:t>
            </a:r>
            <a:r>
              <a:rPr lang="ru-RU" sz="1400" dirty="0">
                <a:latin typeface="Times New Roman"/>
                <a:cs typeface="Times New Roman"/>
              </a:rPr>
              <a:t>] и </a:t>
            </a:r>
            <a:r>
              <a:rPr lang="ru-RU" sz="1400" dirty="0" err="1">
                <a:latin typeface="Times New Roman"/>
                <a:cs typeface="Times New Roman"/>
              </a:rPr>
              <a:t>flags</a:t>
            </a:r>
            <a:r>
              <a:rPr lang="ru-RU" sz="1400" dirty="0">
                <a:latin typeface="Times New Roman"/>
                <a:cs typeface="Times New Roman"/>
              </a:rPr>
              <a:t>[</a:t>
            </a:r>
            <a:r>
              <a:rPr lang="ru-RU" sz="1400" dirty="0" err="1">
                <a:latin typeface="Times New Roman"/>
                <a:cs typeface="Times New Roman"/>
              </a:rPr>
              <a:t>i,j</a:t>
            </a:r>
            <a:r>
              <a:rPr lang="ru-RU" sz="1400" dirty="0">
                <a:latin typeface="Times New Roman"/>
                <a:cs typeface="Times New Roman"/>
              </a:rPr>
              <a:t>] (булевы матрицы): состояние открытых клеток и флагов.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None/>
            </a:pPr>
            <a:r>
              <a:rPr lang="ru-RU" b="1" dirty="0">
                <a:latin typeface="Times New Roman"/>
                <a:cs typeface="Times New Roman"/>
              </a:rPr>
              <a:t>Подсчёт мин вокруг клетки: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Число мин вокруг клетки (</a:t>
            </a:r>
            <a:r>
              <a:rPr lang="ru-RU" sz="1400" dirty="0" err="1">
                <a:latin typeface="Times New Roman"/>
                <a:cs typeface="Times New Roman"/>
              </a:rPr>
              <a:t>x,y</a:t>
            </a:r>
            <a:r>
              <a:rPr lang="ru-RU" sz="1400" dirty="0">
                <a:latin typeface="Times New Roman"/>
                <a:cs typeface="Times New Roman"/>
              </a:rPr>
              <a:t>) подсчитывается путем проверки всех 8 соседних клеток в 3x3 окне (кроме самой клетки). Программа проверяет каждую соседнюю клетку, если она находится в пределах поля (от 0 до size-1) и содержит мину, увеличивает счётчик на 1.</a:t>
            </a:r>
            <a:endParaRPr lang="ru-RU"/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None/>
            </a:pPr>
            <a:r>
              <a:rPr lang="ru-RU" b="1" dirty="0">
                <a:latin typeface="Times New Roman"/>
                <a:cs typeface="Times New Roman"/>
              </a:rPr>
              <a:t>Условия: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Победа: </a:t>
            </a:r>
            <a:r>
              <a:rPr lang="ru-RU" sz="1400" dirty="0" err="1">
                <a:latin typeface="Times New Roman"/>
                <a:cs typeface="Times New Roman"/>
              </a:rPr>
              <a:t>openedcount</a:t>
            </a:r>
            <a:r>
              <a:rPr lang="ru-RU" sz="1400" dirty="0">
                <a:latin typeface="Times New Roman"/>
                <a:cs typeface="Times New Roman"/>
              </a:rPr>
              <a:t> == </a:t>
            </a:r>
            <a:r>
              <a:rPr lang="ru-RU" sz="1400" dirty="0" err="1">
                <a:latin typeface="Times New Roman"/>
                <a:cs typeface="Times New Roman"/>
              </a:rPr>
              <a:t>size</a:t>
            </a:r>
            <a:r>
              <a:rPr lang="ru-RU" sz="1400" dirty="0">
                <a:latin typeface="Times New Roman"/>
                <a:cs typeface="Times New Roman"/>
              </a:rPr>
              <a:t> * </a:t>
            </a:r>
            <a:r>
              <a:rPr lang="ru-RU" sz="1400" dirty="0" err="1">
                <a:latin typeface="Times New Roman"/>
                <a:cs typeface="Times New Roman"/>
              </a:rPr>
              <a:t>size</a:t>
            </a:r>
            <a:r>
              <a:rPr lang="ru-RU" sz="1400" dirty="0">
                <a:latin typeface="Times New Roman"/>
                <a:cs typeface="Times New Roman"/>
              </a:rPr>
              <a:t> – </a:t>
            </a:r>
            <a:r>
              <a:rPr lang="ru-RU" sz="1400" dirty="0" err="1">
                <a:latin typeface="Times New Roman"/>
                <a:cs typeface="Times New Roman"/>
              </a:rPr>
              <a:t>mines</a:t>
            </a:r>
            <a:r>
              <a:rPr lang="ru-RU" sz="1400" dirty="0">
                <a:latin typeface="Times New Roman"/>
                <a:cs typeface="Times New Roman"/>
              </a:rPr>
              <a:t>, где </a:t>
            </a:r>
            <a:r>
              <a:rPr lang="ru-RU" sz="1400" dirty="0" err="1">
                <a:latin typeface="Times New Roman"/>
                <a:cs typeface="Times New Roman"/>
              </a:rPr>
              <a:t>openedcount</a:t>
            </a:r>
            <a:r>
              <a:rPr lang="ru-RU" sz="1400" dirty="0">
                <a:latin typeface="Times New Roman"/>
                <a:cs typeface="Times New Roman"/>
              </a:rPr>
              <a:t> - число </a:t>
            </a:r>
            <a:r>
              <a:rPr lang="ru-RU" sz="1400" dirty="0" err="1">
                <a:latin typeface="Times New Roman"/>
                <a:cs typeface="Times New Roman"/>
              </a:rPr>
              <a:t>отерытих</a:t>
            </a:r>
            <a:r>
              <a:rPr lang="ru-RU" sz="1400" dirty="0">
                <a:latin typeface="Times New Roman"/>
                <a:cs typeface="Times New Roman"/>
              </a:rPr>
              <a:t> клеток.</a:t>
            </a:r>
            <a:endParaRPr lang="ru-RU" sz="1400" dirty="0">
              <a:latin typeface="Century Gothic" panose="020B0502020202020204"/>
              <a:cs typeface="Times New Roman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Проигрыш: </a:t>
            </a:r>
            <a:r>
              <a:rPr lang="ru-RU" sz="1400" dirty="0" err="1">
                <a:latin typeface="Times New Roman"/>
                <a:cs typeface="Times New Roman"/>
              </a:rPr>
              <a:t>mine</a:t>
            </a:r>
            <a:r>
              <a:rPr lang="ru-RU" sz="1400" dirty="0">
                <a:latin typeface="Times New Roman"/>
                <a:cs typeface="Times New Roman"/>
              </a:rPr>
              <a:t>[</a:t>
            </a:r>
            <a:r>
              <a:rPr lang="ru-RU" sz="1400" dirty="0" err="1">
                <a:latin typeface="Times New Roman"/>
                <a:cs typeface="Times New Roman"/>
              </a:rPr>
              <a:t>x,y</a:t>
            </a:r>
            <a:r>
              <a:rPr lang="ru-RU" sz="1400" dirty="0">
                <a:latin typeface="Times New Roman"/>
                <a:cs typeface="Times New Roman"/>
              </a:rPr>
              <a:t>] == </a:t>
            </a:r>
            <a:r>
              <a:rPr lang="ru-RU" sz="1400" dirty="0" err="1">
                <a:latin typeface="Times New Roman"/>
                <a:cs typeface="Times New Roman"/>
              </a:rPr>
              <a:t>true</a:t>
            </a:r>
            <a:r>
              <a:rPr lang="ru-RU" sz="1400" dirty="0">
                <a:latin typeface="Times New Roman"/>
                <a:cs typeface="Times New Roman"/>
              </a:rPr>
              <a:t> при открытии.</a:t>
            </a:r>
            <a:endParaRPr lang="ru-RU" sz="1400">
              <a:latin typeface="Century Gothic" panose="020B0502020202020204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1700406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="" xmlns:a16="http://schemas.microsoft.com/office/drawing/2014/main" id="{BD6BF861-40D5-D77D-4453-B8DE88411E45}"/>
              </a:ext>
            </a:extLst>
          </p:cNvPr>
          <p:cNvSpPr txBox="1">
            <a:spLocks/>
          </p:cNvSpPr>
          <p:nvPr/>
        </p:nvSpPr>
        <p:spPr>
          <a:xfrm>
            <a:off x="1105399" y="400527"/>
            <a:ext cx="8945436" cy="7533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>
                <a:latin typeface="Times New Roman"/>
                <a:cs typeface="Times New Roman"/>
              </a:rPr>
              <a:t>Алгоритм работы программы</a:t>
            </a:r>
            <a:endParaRPr lang="ru-RU" sz="3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5CA83B02-6087-CD5D-93B8-8CDF8CE68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83192"/>
            <a:ext cx="10021691" cy="4873025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ru-RU" sz="2600" b="1" dirty="0">
                <a:latin typeface="Times New Roman"/>
                <a:cs typeface="Times New Roman"/>
              </a:rPr>
              <a:t>Начало:</a:t>
            </a:r>
            <a:endParaRPr lang="ru-RU" sz="2600" b="1" dirty="0">
              <a:latin typeface="Century Gothic" panose="020B0502020202020204"/>
              <a:cs typeface="Times New Roman"/>
            </a:endParaRPr>
          </a:p>
          <a:p>
            <a:pPr>
              <a:lnSpc>
                <a:spcPct val="17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sz="2200" dirty="0">
                <a:latin typeface="Times New Roman"/>
                <a:cs typeface="Times New Roman"/>
              </a:rPr>
              <a:t>Инициализация в конструкторе </a:t>
            </a:r>
            <a:r>
              <a:rPr lang="ru-RU" sz="2200" dirty="0" err="1">
                <a:latin typeface="Times New Roman"/>
                <a:cs typeface="Times New Roman"/>
              </a:rPr>
              <a:t>MyForm</a:t>
            </a:r>
            <a:r>
              <a:rPr lang="ru-RU" sz="2200" dirty="0">
                <a:latin typeface="Times New Roman"/>
                <a:cs typeface="Times New Roman"/>
              </a:rPr>
              <a:t>, отображение главного меню.</a:t>
            </a:r>
            <a:endParaRPr lang="ru-RU" b="1">
              <a:latin typeface="Century Gothic" panose="020B0502020202020204"/>
              <a:cs typeface="Times New Roman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Clr>
                <a:srgbClr val="8AD0D6"/>
              </a:buClr>
              <a:buNone/>
            </a:pPr>
            <a:r>
              <a:rPr lang="ru-RU" sz="2600" b="1" dirty="0">
                <a:latin typeface="Times New Roman"/>
                <a:cs typeface="Times New Roman"/>
              </a:rPr>
              <a:t>Подготовка: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sz="2200" dirty="0">
                <a:latin typeface="Times New Roman"/>
                <a:cs typeface="Times New Roman"/>
              </a:rPr>
              <a:t>Выбор уровня сложности запускает </a:t>
            </a:r>
            <a:r>
              <a:rPr lang="ru-RU" sz="2200" dirty="0" err="1">
                <a:latin typeface="Times New Roman"/>
                <a:cs typeface="Times New Roman"/>
              </a:rPr>
              <a:t>фунцию</a:t>
            </a:r>
            <a:r>
              <a:rPr lang="ru-RU" sz="2200" dirty="0">
                <a:latin typeface="Times New Roman"/>
                <a:cs typeface="Times New Roman"/>
              </a:rPr>
              <a:t> </a:t>
            </a:r>
            <a:r>
              <a:rPr lang="ru-RU" sz="2200" dirty="0" err="1">
                <a:latin typeface="Times New Roman"/>
                <a:cs typeface="Times New Roman"/>
              </a:rPr>
              <a:t>startgame</a:t>
            </a:r>
            <a:r>
              <a:rPr lang="ru-RU" sz="2200" dirty="0">
                <a:latin typeface="Times New Roman"/>
                <a:cs typeface="Times New Roman"/>
              </a:rPr>
              <a:t>, которая настраивает размер поля, создаёт кнопки и вызывает </a:t>
            </a:r>
            <a:r>
              <a:rPr lang="ru-RU" sz="2200" dirty="0" err="1">
                <a:latin typeface="Times New Roman"/>
                <a:cs typeface="Times New Roman"/>
              </a:rPr>
              <a:t>reset</a:t>
            </a:r>
            <a:r>
              <a:rPr lang="ru-RU" sz="2200" dirty="0">
                <a:latin typeface="Times New Roman"/>
                <a:cs typeface="Times New Roman"/>
              </a:rPr>
              <a:t> для расстановки мин.</a:t>
            </a:r>
            <a:endParaRPr lang="ru-RU"/>
          </a:p>
          <a:p>
            <a:pPr marL="0" indent="0">
              <a:lnSpc>
                <a:spcPct val="170000"/>
              </a:lnSpc>
              <a:spcBef>
                <a:spcPts val="0"/>
              </a:spcBef>
              <a:buClr>
                <a:srgbClr val="8AD0D6"/>
              </a:buClr>
              <a:buNone/>
            </a:pPr>
            <a:r>
              <a:rPr lang="ru-RU" sz="2600" b="1" dirty="0">
                <a:latin typeface="Times New Roman"/>
                <a:cs typeface="Times New Roman"/>
              </a:rPr>
              <a:t>Игровой процесс (Ожидать действий на поле):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sz="2200" dirty="0">
                <a:latin typeface="Times New Roman"/>
                <a:cs typeface="Times New Roman"/>
              </a:rPr>
              <a:t>Левый клик через </a:t>
            </a:r>
            <a:r>
              <a:rPr lang="ru-RU" sz="2200" dirty="0" err="1">
                <a:latin typeface="Times New Roman"/>
                <a:cs typeface="Times New Roman"/>
              </a:rPr>
              <a:t>button_click</a:t>
            </a:r>
            <a:r>
              <a:rPr lang="ru-RU" sz="2200" dirty="0">
                <a:latin typeface="Times New Roman"/>
                <a:cs typeface="Times New Roman"/>
              </a:rPr>
              <a:t> вызывает </a:t>
            </a:r>
            <a:r>
              <a:rPr lang="ru-RU" sz="2200" dirty="0" err="1">
                <a:latin typeface="Times New Roman"/>
                <a:cs typeface="Times New Roman"/>
              </a:rPr>
              <a:t>open</a:t>
            </a:r>
            <a:r>
              <a:rPr lang="ru-RU" sz="2200" dirty="0">
                <a:latin typeface="Times New Roman"/>
                <a:cs typeface="Times New Roman"/>
              </a:rPr>
              <a:t> для открытия клеток.</a:t>
            </a:r>
          </a:p>
          <a:p>
            <a:pPr>
              <a:lnSpc>
                <a:spcPct val="17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2200" dirty="0">
                <a:latin typeface="Times New Roman"/>
                <a:cs typeface="Times New Roman"/>
              </a:rPr>
              <a:t>Правый клик через </a:t>
            </a:r>
            <a:r>
              <a:rPr lang="ru-RU" sz="2200" dirty="0" err="1">
                <a:latin typeface="Times New Roman"/>
                <a:cs typeface="Times New Roman"/>
              </a:rPr>
              <a:t>button_mousedown</a:t>
            </a:r>
            <a:r>
              <a:rPr lang="ru-RU" sz="2200" dirty="0">
                <a:latin typeface="Times New Roman"/>
                <a:cs typeface="Times New Roman"/>
              </a:rPr>
              <a:t> управляет установкой или удалением флагов.</a:t>
            </a:r>
          </a:p>
          <a:p>
            <a:pPr>
              <a:lnSpc>
                <a:spcPct val="17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2200" dirty="0">
                <a:latin typeface="Times New Roman"/>
                <a:cs typeface="Times New Roman"/>
              </a:rPr>
              <a:t>Таймер (</a:t>
            </a:r>
            <a:r>
              <a:rPr lang="ru-RU" sz="2200" dirty="0" err="1">
                <a:latin typeface="Times New Roman"/>
                <a:cs typeface="Times New Roman"/>
              </a:rPr>
              <a:t>timer_Tick</a:t>
            </a:r>
            <a:r>
              <a:rPr lang="ru-RU" sz="2200" dirty="0">
                <a:latin typeface="Times New Roman"/>
                <a:cs typeface="Times New Roman"/>
              </a:rPr>
              <a:t>) увеличивает счётчик времени </a:t>
            </a:r>
            <a:r>
              <a:rPr lang="ru-RU" sz="2200" dirty="0" err="1">
                <a:latin typeface="Times New Roman"/>
                <a:cs typeface="Times New Roman"/>
              </a:rPr>
              <a:t>sec</a:t>
            </a:r>
            <a:r>
              <a:rPr lang="ru-RU" sz="2200" dirty="0">
                <a:latin typeface="Times New Roman"/>
                <a:cs typeface="Times New Roman"/>
              </a:rPr>
              <a:t> и обновляет </a:t>
            </a:r>
            <a:r>
              <a:rPr lang="ru-RU" sz="2200" dirty="0" err="1">
                <a:latin typeface="Times New Roman"/>
                <a:cs typeface="Times New Roman"/>
              </a:rPr>
              <a:t>timelabel</a:t>
            </a:r>
            <a:r>
              <a:rPr lang="ru-RU" sz="220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7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2200" dirty="0">
                <a:latin typeface="Times New Roman"/>
                <a:cs typeface="Times New Roman"/>
              </a:rPr>
              <a:t>Меню: </a:t>
            </a:r>
            <a:r>
              <a:rPr lang="ru-RU" sz="2200" dirty="0" err="1">
                <a:latin typeface="Times New Roman"/>
                <a:cs typeface="Times New Roman"/>
              </a:rPr>
              <a:t>newgame</a:t>
            </a:r>
            <a:r>
              <a:rPr lang="ru-RU" sz="2200" dirty="0">
                <a:latin typeface="Times New Roman"/>
                <a:cs typeface="Times New Roman"/>
              </a:rPr>
              <a:t> перезапускает игру, </a:t>
            </a:r>
            <a:r>
              <a:rPr lang="ru-RU" sz="2200" dirty="0" err="1">
                <a:latin typeface="Times New Roman"/>
                <a:cs typeface="Times New Roman"/>
              </a:rPr>
              <a:t>mainmenu</a:t>
            </a:r>
            <a:r>
              <a:rPr lang="ru-RU" sz="2200" dirty="0">
                <a:latin typeface="Times New Roman"/>
                <a:cs typeface="Times New Roman"/>
              </a:rPr>
              <a:t> возвращает в главное меню.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Clr>
                <a:srgbClr val="8AD0D6"/>
              </a:buClr>
              <a:buNone/>
            </a:pPr>
            <a:r>
              <a:rPr lang="ru-RU" sz="2600" b="1" dirty="0">
                <a:latin typeface="Times New Roman"/>
                <a:cs typeface="Times New Roman"/>
              </a:rPr>
              <a:t>Логика:</a:t>
            </a:r>
            <a:endParaRPr lang="ru-RU" sz="2200" dirty="0">
              <a:latin typeface="Times New Roman"/>
              <a:cs typeface="Times New Roman"/>
            </a:endParaRPr>
          </a:p>
          <a:p>
            <a:pPr>
              <a:lnSpc>
                <a:spcPct val="17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sz="2200" dirty="0" err="1">
                <a:latin typeface="Times New Roman"/>
                <a:cs typeface="Times New Roman"/>
              </a:rPr>
              <a:t>open</a:t>
            </a:r>
            <a:r>
              <a:rPr lang="ru-RU" sz="2200" dirty="0">
                <a:latin typeface="Times New Roman"/>
                <a:cs typeface="Times New Roman"/>
              </a:rPr>
              <a:t>(</a:t>
            </a:r>
            <a:r>
              <a:rPr lang="ru-RU" sz="2200" dirty="0" err="1">
                <a:latin typeface="Times New Roman"/>
                <a:cs typeface="Times New Roman"/>
              </a:rPr>
              <a:t>x,y</a:t>
            </a:r>
            <a:r>
              <a:rPr lang="ru-RU" sz="2200" dirty="0">
                <a:latin typeface="Times New Roman"/>
                <a:cs typeface="Times New Roman"/>
              </a:rPr>
              <a:t>) рекурсивно открывает соседние клетки, проверяет наличие мин и вызывает </a:t>
            </a:r>
            <a:r>
              <a:rPr lang="ru-RU" sz="2200" dirty="0" err="1">
                <a:latin typeface="Times New Roman"/>
                <a:cs typeface="Times New Roman"/>
              </a:rPr>
              <a:t>checkwin</a:t>
            </a:r>
            <a:r>
              <a:rPr lang="ru-RU" sz="220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7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2200" dirty="0" err="1">
                <a:latin typeface="Times New Roman"/>
                <a:cs typeface="Times New Roman"/>
              </a:rPr>
              <a:t>checkwin</a:t>
            </a:r>
            <a:r>
              <a:rPr lang="ru-RU" sz="2200" dirty="0">
                <a:latin typeface="Times New Roman"/>
                <a:cs typeface="Times New Roman"/>
              </a:rPr>
              <a:t> подсчитывает открытые клетки и определяет победу.</a:t>
            </a:r>
          </a:p>
          <a:p>
            <a:pPr>
              <a:lnSpc>
                <a:spcPct val="17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2200" dirty="0" err="1">
                <a:latin typeface="Times New Roman"/>
                <a:cs typeface="Times New Roman"/>
              </a:rPr>
              <a:t>gameover</a:t>
            </a:r>
            <a:r>
              <a:rPr lang="ru-RU" sz="2200" dirty="0">
                <a:latin typeface="Times New Roman"/>
                <a:cs typeface="Times New Roman"/>
              </a:rPr>
              <a:t> завершает игру, показывая мины и выводя сообщение.</a:t>
            </a:r>
          </a:p>
        </p:txBody>
      </p:sp>
    </p:spTree>
    <p:extLst>
      <p:ext uri="{BB962C8B-B14F-4D97-AF65-F5344CB8AC3E}">
        <p14:creationId xmlns:p14="http://schemas.microsoft.com/office/powerpoint/2010/main" val="27149924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="" xmlns:a16="http://schemas.microsoft.com/office/drawing/2014/main" id="{21AE85D1-755B-237A-CB52-203C79F471C3}"/>
              </a:ext>
            </a:extLst>
          </p:cNvPr>
          <p:cNvSpPr txBox="1">
            <a:spLocks/>
          </p:cNvSpPr>
          <p:nvPr/>
        </p:nvSpPr>
        <p:spPr>
          <a:xfrm>
            <a:off x="1105399" y="400527"/>
            <a:ext cx="8945436" cy="7533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>
                <a:latin typeface="Times New Roman"/>
                <a:cs typeface="Times New Roman"/>
              </a:rPr>
              <a:t>Интерфейс программы</a:t>
            </a:r>
            <a:endParaRPr lang="ru-RU" sz="3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2" name="Рисунок 1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="" xmlns:a16="http://schemas.microsoft.com/office/drawing/2014/main" id="{18594E46-9CD7-D6F8-2FA7-AB7AA6D95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52" y="1149350"/>
            <a:ext cx="2495550" cy="2781300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число, прямоугольный&#10;&#10;Содержимое, созданное искусственным интеллектом, может быть неверным.">
            <a:extLst>
              <a:ext uri="{FF2B5EF4-FFF2-40B4-BE49-F238E27FC236}">
                <a16:creationId xmlns="" xmlns:a16="http://schemas.microsoft.com/office/drawing/2014/main" id="{D21E0129-1D63-5EB5-D624-84B7C1B90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498" y="1150793"/>
            <a:ext cx="2495550" cy="3448050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прямоугольный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="" xmlns:a16="http://schemas.microsoft.com/office/drawing/2014/main" id="{AA9BD6D4-FD6D-8FDA-BBE6-7AEFD2C6D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679" y="481157"/>
            <a:ext cx="4400550" cy="52722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DF358178-0723-A7D7-BB6F-2DDA6E3A945D}"/>
              </a:ext>
            </a:extLst>
          </p:cNvPr>
          <p:cNvSpPr txBox="1"/>
          <p:nvPr/>
        </p:nvSpPr>
        <p:spPr>
          <a:xfrm>
            <a:off x="715818" y="4052455"/>
            <a:ext cx="25399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000" dirty="0">
                <a:latin typeface="Times New Roman"/>
                <a:cs typeface="Times New Roman"/>
              </a:rPr>
              <a:t>Главное меню</a:t>
            </a:r>
            <a:endParaRPr lang="ru-RU" sz="200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95CFFCA9-441C-77E9-41CC-A61D75125DB3}"/>
              </a:ext>
            </a:extLst>
          </p:cNvPr>
          <p:cNvSpPr txBox="1"/>
          <p:nvPr/>
        </p:nvSpPr>
        <p:spPr>
          <a:xfrm>
            <a:off x="3936999" y="4733636"/>
            <a:ext cx="245918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000" dirty="0">
                <a:latin typeface="Times New Roman"/>
                <a:cs typeface="Times New Roman"/>
              </a:rPr>
              <a:t>Легкий уровень сложности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471BA91-695E-841A-7A20-78DEC69CE55A}"/>
              </a:ext>
            </a:extLst>
          </p:cNvPr>
          <p:cNvSpPr txBox="1"/>
          <p:nvPr/>
        </p:nvSpPr>
        <p:spPr>
          <a:xfrm>
            <a:off x="7123545" y="5865090"/>
            <a:ext cx="4398817" cy="4849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2096AADA-032F-26C1-BC7C-CEF253EE9EE7}"/>
              </a:ext>
            </a:extLst>
          </p:cNvPr>
          <p:cNvSpPr txBox="1"/>
          <p:nvPr/>
        </p:nvSpPr>
        <p:spPr>
          <a:xfrm>
            <a:off x="7135090" y="5945909"/>
            <a:ext cx="43641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000" dirty="0">
                <a:latin typeface="Times New Roman"/>
                <a:cs typeface="Times New Roman"/>
              </a:rPr>
              <a:t>Средний уровень сложности</a:t>
            </a:r>
          </a:p>
        </p:txBody>
      </p:sp>
    </p:spTree>
    <p:extLst>
      <p:ext uri="{BB962C8B-B14F-4D97-AF65-F5344CB8AC3E}">
        <p14:creationId xmlns:p14="http://schemas.microsoft.com/office/powerpoint/2010/main" val="18381301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="" xmlns:a16="http://schemas.microsoft.com/office/drawing/2014/main" id="{C7FBEC6C-58E2-EA52-5F81-C77233C98A8D}"/>
              </a:ext>
            </a:extLst>
          </p:cNvPr>
          <p:cNvSpPr txBox="1">
            <a:spLocks/>
          </p:cNvSpPr>
          <p:nvPr/>
        </p:nvSpPr>
        <p:spPr>
          <a:xfrm>
            <a:off x="1105399" y="400527"/>
            <a:ext cx="8945436" cy="7533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>
                <a:latin typeface="Times New Roman"/>
                <a:cs typeface="Times New Roman"/>
              </a:rPr>
              <a:t>Заключение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13D7281E-4E98-7FE1-6082-CBBBB093C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83192"/>
            <a:ext cx="10021691" cy="46652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/>
                <a:cs typeface="Times New Roman"/>
              </a:rPr>
              <a:t>С какими трудностями столкнулся: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dirty="0">
                <a:latin typeface="Times New Roman"/>
                <a:cs typeface="Times New Roman"/>
              </a:rPr>
              <a:t>Сложности с рекурсивным открытием клеток в </a:t>
            </a:r>
            <a:r>
              <a:rPr lang="ru-RU" dirty="0" err="1">
                <a:latin typeface="Times New Roman"/>
                <a:cs typeface="Times New Roman"/>
              </a:rPr>
              <a:t>open</a:t>
            </a:r>
            <a:r>
              <a:rPr lang="ru-RU" dirty="0">
                <a:latin typeface="Times New Roman"/>
                <a:cs typeface="Times New Roman"/>
              </a:rPr>
              <a:t>(</a:t>
            </a:r>
            <a:r>
              <a:rPr lang="ru-RU" dirty="0" err="1">
                <a:latin typeface="Times New Roman"/>
                <a:cs typeface="Times New Roman"/>
              </a:rPr>
              <a:t>x,y</a:t>
            </a:r>
            <a:r>
              <a:rPr lang="ru-RU" dirty="0">
                <a:latin typeface="Times New Roman"/>
                <a:cs typeface="Times New Roman"/>
              </a:rPr>
              <a:t>) (учет границ и флагов).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/>
                <a:cs typeface="Times New Roman"/>
              </a:rPr>
              <a:t>Чему научился: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dirty="0">
                <a:latin typeface="Times New Roman"/>
                <a:cs typeface="Times New Roman"/>
              </a:rPr>
              <a:t>Отладке рекурсивных функций и обработке событий мыши.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/>
                <a:cs typeface="Times New Roman"/>
              </a:rPr>
              <a:t>Какие достоинства вышей программы, чем может быть полезна: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dirty="0">
                <a:latin typeface="Times New Roman"/>
                <a:cs typeface="Times New Roman"/>
              </a:rPr>
              <a:t>Несколько уровней сложности, подходящие для разных навыков.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/>
                <a:cs typeface="Times New Roman"/>
              </a:rPr>
              <a:t>Перспективы развития: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dirty="0">
                <a:latin typeface="Times New Roman"/>
                <a:cs typeface="Times New Roman"/>
              </a:rPr>
              <a:t>Добавление звуковых эффектов.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dirty="0">
                <a:latin typeface="Times New Roman"/>
                <a:cs typeface="Times New Roman"/>
              </a:rPr>
              <a:t>Внедрение системы сохранения рекордов или рейтинга.</a:t>
            </a:r>
          </a:p>
        </p:txBody>
      </p:sp>
    </p:spTree>
    <p:extLst>
      <p:ext uri="{BB962C8B-B14F-4D97-AF65-F5344CB8AC3E}">
        <p14:creationId xmlns:p14="http://schemas.microsoft.com/office/powerpoint/2010/main" val="23345862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Microsoft Office PowerPoint</Application>
  <PresentationFormat>Произвольный</PresentationFormat>
  <Paragraphs>53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Ion</vt:lpstr>
      <vt:lpstr>Постановка задачи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Индивидуальное задание на тему "Сапёр"</dc:title>
  <dc:creator/>
  <cp:lastModifiedBy>Лаптева Валерия Валерьевна</cp:lastModifiedBy>
  <cp:revision>565</cp:revision>
  <dcterms:created xsi:type="dcterms:W3CDTF">2025-06-19T13:49:36Z</dcterms:created>
  <dcterms:modified xsi:type="dcterms:W3CDTF">2025-12-08T14:45:13Z</dcterms:modified>
</cp:coreProperties>
</file>